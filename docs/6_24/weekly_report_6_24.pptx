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3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3781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7826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19545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13495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19743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73497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48137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35012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43367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87765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5909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19756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7776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312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MethyAgent 文献情报模块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进展汇报  ·  2026-06-24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C2B3A"/>
                </a:solidFill>
                <a:latin typeface="Arial" pitchFamily="34" charset="0"/>
                <a:cs typeface="Arial" pitchFamily="34" charset="-120"/>
              </a:rPr>
              <a:t>本周进展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" y="1261872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07899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追问模块（query_clarifier.py）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444752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5个组件：追问、关键词构建、同义词扩展、对照试验查询、GEO数据集评估、摘要结构化提取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" y="2450592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450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26771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NCBI 文献检索（ncbi_search.py）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633472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两阶段过滤 + LLM 结构化提取，全流程端到端打通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822960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  <a:effectLst/>
        </p:spPr>
        <p:txBody>
          <a:bodyPr/>
          <a:lstStyle/>
          <a:p>
            <a:endParaRPr lang="en-US" b="1" dirty="0"/>
          </a:p>
        </p:txBody>
      </p:sp>
      <p:sp>
        <p:nvSpPr>
          <p:cNvPr id="14" name="Shape 12"/>
          <p:cNvSpPr/>
          <p:nvPr/>
        </p:nvSpPr>
        <p:spPr>
          <a:xfrm>
            <a:off x="594360" y="3639312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45643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全部测试通过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3822192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9/9 组件单元测试 PASS；NCBI 端到端实测返回真实文献，AUC 最高 0.98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query_clarifier.py — 五个功能点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940496"/>
              </p:ext>
            </p:extLst>
          </p:nvPr>
        </p:nvGraphicFramePr>
        <p:xfrm>
          <a:off x="457200" y="960120"/>
          <a:ext cx="7863840" cy="332841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 err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组件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功能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状态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</a:t>
                      </a:r>
                      <a:r>
                        <a:rPr lang="en-US" sz="1200" dirty="0" err="1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追问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检测模糊查询，最多提 3 个问题，每题 3-4 选项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关键词构建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NCBI </a:t>
                      </a:r>
                      <a:r>
                        <a:rPr lang="en-US" sz="1200" dirty="0" err="1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查询</a:t>
                      </a:r>
                      <a:r>
                        <a:rPr lang="en-US" sz="120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，≤400字符，优先级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同义词扩展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 种癌症，每种 ≤5 个同义词；支持中英文查询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对照试验查询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输出 3 个变体：main / cancer_only / control_only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5a. GEO 评估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判断：keep / exclude / manual_review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5b. 摘要提取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提取 AUC、样本量、数据集ID、生物标志物等字段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两阶段过滤 — 设计灵感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79"/>
            <a:ext cx="3931920" cy="1965951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论文灵感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Robin (Nature 2026)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  Crow = 快速粗筛（标题/摘要）
  Falcon = 深度精评（全文）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Co-Scientist (Google)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  初审（无搜索）→ 全审（有搜索）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  搜索工具将新颖性识别准确率提高 2.6×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flipV="1">
            <a:off x="4297680" y="1783080"/>
            <a:ext cx="685800" cy="76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3840480" cy="19659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83480" y="914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MethyAgent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13258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1：规则过滤（无 LLM，快）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保留：含 methylation + cfDNA/plasma
  排除：cell line、mouse model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2：LLM 提取（精，仅前10篇）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调用 extract_paper_structured()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输出 AUC、样本量、数据集ID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657600"/>
            <a:ext cx="265176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节省 LLM 费用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~70% 论文在 Stage 1 过滤掉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3657600"/>
            <a:ext cx="265176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91840" y="37490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召回率高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4114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3 个查询变体取并集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3657600"/>
            <a:ext cx="265176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37490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可解释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4114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每条记录有 confidence_level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NCBI 测试结果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18288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查询</a:t>
            </a: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1: </a:t>
            </a:r>
            <a:r>
              <a:rPr lang="en-US" sz="14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结直肠癌血浆</a:t>
            </a: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cfDNA 甲基化，需要健康对照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Stage 1 通过 14 篇  →  Stage 2 提取 10 篇（5 高置信 + 5 中置信）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714592"/>
              </p:ext>
            </p:extLst>
          </p:nvPr>
        </p:nvGraphicFramePr>
        <p:xfrm>
          <a:off x="365760" y="1693672"/>
          <a:ext cx="8412480" cy="14478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PMID</a:t>
                      </a:r>
                      <a:endParaRPr lang="en-US" sz="11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标题（节选）</a:t>
                      </a:r>
                      <a:endParaRPr lang="en-US" sz="11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癌种/样本</a:t>
                      </a:r>
                      <a:endParaRPr lang="en-US" sz="11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AUC</a:t>
                      </a:r>
                      <a:endParaRPr lang="en-US" sz="11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样本量</a:t>
                      </a:r>
                      <a:endParaRPr lang="en-US" sz="11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41796341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Circulating tumor DNA methylation...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CRC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plasma_cfdna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636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39380154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Transformer-based multi-cancer detection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CRC+HCC+lung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plasma_cfdna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 / ext 0.91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1574 / ctrl 1980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40253416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Diagnostic, prognostic methylation biomarkers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CRC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plasma_cfdna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0.929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 104 / ctrl 138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371298"/>
            <a:ext cx="841248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338958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查询</a:t>
            </a:r>
            <a:r>
              <a:rPr lang="en-US" sz="1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2: breast cancer plasma cfDNA methylation EPIC early detection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70962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返回 2 篇，均为中置信度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0462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PMID 40860669</a:t>
            </a: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Breast cfDNA EPIC discovery  |  AUC 0.922  |  case 80 / ctrl 233  |  </a:t>
            </a:r>
            <a:r>
              <a:rPr lang="en-US" sz="11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GSE50132</a:t>
            </a: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TCGA, GSE69914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PMID 36400018</a:t>
            </a: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Multi-cancer cfDNA early detection  |  AUC 0.91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0" y="4732020"/>
            <a:ext cx="841248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✅ End-to-end </a:t>
            </a:r>
            <a:r>
              <a:rPr lang="en-US" sz="12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success：代理配置</a:t>
            </a: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 → NCBI esearch → efetch → Stage 1 规则 → Stage 2 LLM → 结构化输出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B4503FC8-728A-B30C-052A-365408279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712145"/>
              </p:ext>
            </p:extLst>
          </p:nvPr>
        </p:nvGraphicFramePr>
        <p:xfrm>
          <a:off x="317937" y="773510"/>
          <a:ext cx="8508125" cy="4225163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476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3890">
                  <a:extLst>
                    <a:ext uri="{9D8B030D-6E8A-4147-A177-3AD203B41FA5}">
                      <a16:colId xmlns:a16="http://schemas.microsoft.com/office/drawing/2014/main" val="227916596"/>
                    </a:ext>
                  </a:extLst>
                </a:gridCol>
                <a:gridCol w="3731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6359">
                  <a:extLst>
                    <a:ext uri="{9D8B030D-6E8A-4147-A177-3AD203B41FA5}">
                      <a16:colId xmlns:a16="http://schemas.microsoft.com/office/drawing/2014/main" val="249832547"/>
                    </a:ext>
                  </a:extLst>
                </a:gridCol>
              </a:tblGrid>
              <a:tr h="41310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dirty="0" err="1">
                          <a:solidFill>
                            <a:schemeClr val="bg1"/>
                          </a:solidFill>
                          <a:effectLst/>
                        </a:rPr>
                        <a:t>任务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  <a:r>
                        <a:rPr lang="en-US" sz="1200" b="0" dirty="0" err="1">
                          <a:solidFill>
                            <a:schemeClr val="bg1"/>
                          </a:solidFill>
                          <a:effectLst/>
                        </a:rPr>
                        <a:t>问题</a:t>
                      </a: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PMID</a:t>
                      </a: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dirty="0" err="1">
                          <a:solidFill>
                            <a:schemeClr val="bg1"/>
                          </a:solidFill>
                          <a:effectLst/>
                        </a:rPr>
                        <a:t>说明</a:t>
                      </a: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dirty="0" err="1">
                          <a:solidFill>
                            <a:schemeClr val="bg1"/>
                          </a:solidFill>
                          <a:effectLst/>
                        </a:rPr>
                        <a:t>解决方案</a:t>
                      </a: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6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1. AUC误提取</a:t>
                      </a: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41796341</a:t>
                      </a: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LLM将91.88%特异性误判为AUC 0.91，需在提示词中加入规则：仅当摘要明确出现"AUC"字样时才提取</a:t>
                      </a: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修改提取提示词</a:t>
                      </a: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443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2. 组织vs cfDNA AUC混淆</a:t>
                      </a: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40860669</a:t>
                      </a: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dirty="0" err="1">
                          <a:effectLst/>
                        </a:rPr>
                        <a:t>论文主要基于组织甲基化（AUC</a:t>
                      </a:r>
                      <a:r>
                        <a:rPr lang="en-US" sz="1200" dirty="0">
                          <a:effectLst/>
                        </a:rPr>
                        <a:t> 0.922），cfDNA部分仅33例且AUC仅0.728，提取器误将组织AUC归因于cfDNA</a:t>
                      </a: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修改提取提示词，区分主样本类型对应的AUC</a:t>
                      </a: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6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3. 数据集角色误判</a:t>
                      </a: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40860669</a:t>
                      </a: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GSE50132在摘要中存在，但仅用于白细胞背景过滤，非主要研究数据集</a:t>
                      </a: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✅ 下游GEO评估步骤可自动捕获：evaluate_geo_dataset()会判断物种（小鼠）和样本类型不符而exclude</a:t>
                      </a: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10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dirty="0">
                          <a:effectLst/>
                        </a:rPr>
                        <a:t>4. </a:t>
                      </a:r>
                      <a:r>
                        <a:rPr lang="en-US" sz="1200" dirty="0" err="1">
                          <a:effectLst/>
                        </a:rPr>
                        <a:t>将search_and_extract接入主流程</a:t>
                      </a:r>
                      <a:endParaRPr lang="en-US" sz="1200" dirty="0">
                        <a:effectLst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dirty="0" err="1">
                          <a:effectLst/>
                        </a:rPr>
                        <a:t>接入agents</a:t>
                      </a:r>
                      <a:r>
                        <a:rPr lang="en-US" sz="1200" dirty="0">
                          <a:effectLst/>
                        </a:rPr>
                        <a:t>/</a:t>
                      </a:r>
                      <a:r>
                        <a:rPr lang="en-US" sz="1200" dirty="0" err="1">
                          <a:effectLst/>
                        </a:rPr>
                        <a:t>orchestrator.py</a:t>
                      </a:r>
                      <a:endParaRPr lang="en-US" sz="1200" dirty="0">
                        <a:effectLst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下一步开发</a:t>
                      </a: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10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5. GEO数据集评估循环</a:t>
                      </a:r>
                    </a:p>
                  </a:txBody>
                  <a:tcPr marL="57150" marR="57150" marT="57150" marB="571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dirty="0">
                          <a:effectLst/>
                        </a:rPr>
                        <a:t>—</a:t>
                      </a:r>
                    </a:p>
                  </a:txBody>
                  <a:tcPr marL="57150" marR="57150" marT="57150" marB="571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对论文中每个GSE调用evaluate_geo_dataset()</a:t>
                      </a:r>
                    </a:p>
                  </a:txBody>
                  <a:tcPr marL="57150" marR="57150" marT="57150" marB="571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下一步开发</a:t>
                      </a:r>
                    </a:p>
                  </a:txBody>
                  <a:tcPr marL="57150" marR="57150" marT="57150" marB="571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310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6. 写入知识库</a:t>
                      </a: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dirty="0">
                          <a:effectLst/>
                        </a:rPr>
                        <a:t>—</a:t>
                      </a: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评估后存入registry/methyagent.db</a:t>
                      </a: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dirty="0" err="1">
                          <a:effectLst/>
                        </a:rPr>
                        <a:t>下一步开发</a:t>
                      </a:r>
                      <a:endParaRPr lang="en-US" sz="1200" dirty="0">
                        <a:effectLst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0">
            <a:extLst>
              <a:ext uri="{FF2B5EF4-FFF2-40B4-BE49-F238E27FC236}">
                <a16:creationId xmlns:a16="http://schemas.microsoft.com/office/drawing/2014/main" id="{33E4BCE1-2F6C-9C36-7A19-B634B4DF6FF9}"/>
              </a:ext>
            </a:extLst>
          </p:cNvPr>
          <p:cNvSpPr/>
          <p:nvPr/>
        </p:nvSpPr>
        <p:spPr>
          <a:xfrm>
            <a:off x="317937" y="144827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C2B3A"/>
                </a:solidFill>
                <a:latin typeface="Arial" pitchFamily="34" charset="0"/>
                <a:cs typeface="Arial" pitchFamily="34" charset="-120"/>
              </a:rPr>
              <a:t>问题和下一步计划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802590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1589</TotalTime>
  <Words>567</Words>
  <Application>Microsoft Macintosh PowerPoint</Application>
  <PresentationFormat>On-screen Show (16:9)</PresentationFormat>
  <Paragraphs>118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MethyAgent 进展汇报</dc:title>
  <dc:subject>PptxGenJS Presentation</dc:subject>
  <dc:creator>PptxGenJS</dc:creator>
  <cp:lastModifiedBy>Emma Wang</cp:lastModifiedBy>
  <cp:revision>8</cp:revision>
  <dcterms:created xsi:type="dcterms:W3CDTF">2026-06-24T19:21:47Z</dcterms:created>
  <dcterms:modified xsi:type="dcterms:W3CDTF">2026-07-01T23:27:50Z</dcterms:modified>
</cp:coreProperties>
</file>