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8"/>
  </p:notesMasterIdLst>
  <p:sldIdLst>
    <p:sldId id="256" r:id="rId2"/>
    <p:sldId id="257" r:id="rId3"/>
    <p:sldId id="260" r:id="rId4"/>
    <p:sldId id="259" r:id="rId5"/>
    <p:sldId id="258" r:id="rId6"/>
    <p:sldId id="261" r:id="rId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4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378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7826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1954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1349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9743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349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4813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3501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4336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776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909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975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776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31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MethyAgent 文献情报模块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进展汇报  ·  2026-7-1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2B3A"/>
                </a:solidFill>
                <a:latin typeface="Arial" pitchFamily="34" charset="0"/>
                <a:cs typeface="Arial" pitchFamily="34" charset="-120"/>
              </a:rPr>
              <a:t>本周进展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07899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Arial" pitchFamily="34" charset="0"/>
                <a:cs typeface="Arial" pitchFamily="34" charset="-120"/>
              </a:rPr>
              <a:t>Bug </a:t>
            </a:r>
            <a:r>
              <a:rPr lang="en-US" sz="1500" b="1" dirty="0" err="1">
                <a:solidFill>
                  <a:srgbClr val="1C2B3A"/>
                </a:solidFill>
                <a:latin typeface="Arial" pitchFamily="34" charset="0"/>
                <a:cs typeface="Arial" pitchFamily="34" charset="-120"/>
              </a:rPr>
              <a:t>修复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44475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r>
              <a:rPr lang="en-US" sz="12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 </a:t>
            </a:r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个抽取错误，深挖根因后用代码级校验修复了其中</a:t>
            </a:r>
            <a:r>
              <a:rPr lang="en-US" sz="12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 </a:t>
            </a:r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个并验证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45059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450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26771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结构化输出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63347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</a:t>
            </a:r>
            <a:r>
              <a:rPr lang="en-US" sz="12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supplementary_links</a:t>
            </a:r>
            <a:r>
              <a:rPr lang="en-US" sz="12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字段，新增</a:t>
            </a:r>
            <a:r>
              <a:rPr lang="en-US" sz="12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pipeline </a:t>
            </a:r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通过率</a:t>
            </a:r>
            <a:r>
              <a:rPr lang="en-US" sz="12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完整度日志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/>
        </p:spPr>
        <p:txBody>
          <a:bodyPr/>
          <a:lstStyle/>
          <a:p>
            <a:endParaRPr lang="en-US" b="1" dirty="0"/>
          </a:p>
        </p:txBody>
      </p:sp>
      <p:sp>
        <p:nvSpPr>
          <p:cNvPr id="14" name="Shape 12"/>
          <p:cNvSpPr/>
          <p:nvPr/>
        </p:nvSpPr>
        <p:spPr>
          <a:xfrm>
            <a:off x="594360" y="363931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45643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/>
              <a:t>Pipeline</a:t>
            </a:r>
            <a:r>
              <a:rPr lang="zh-CN" altLang="en-US" sz="1500" b="1" dirty="0"/>
              <a:t> </a:t>
            </a:r>
            <a:r>
              <a:rPr lang="en-US" sz="1500" b="1" dirty="0" err="1"/>
              <a:t>打通</a:t>
            </a:r>
            <a:endParaRPr lang="en-US" sz="1500" b="1" dirty="0"/>
          </a:p>
        </p:txBody>
      </p:sp>
      <p:sp>
        <p:nvSpPr>
          <p:cNvPr id="17" name="Text 15"/>
          <p:cNvSpPr/>
          <p:nvPr/>
        </p:nvSpPr>
        <p:spPr>
          <a:xfrm>
            <a:off x="1143000" y="382219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</a:t>
            </a:r>
            <a:r>
              <a:rPr lang="en-US" sz="12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prototype </a:t>
            </a:r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</a:t>
            </a:r>
            <a:r>
              <a:rPr lang="en-US" sz="12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search → GEO </a:t>
            </a:r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r>
              <a:rPr lang="en-US" sz="12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registry </a:t>
            </a:r>
            <a:r>
              <a:rPr lang="en-US" sz="12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/>
              <a:t>Bug</a:t>
            </a:r>
            <a:r>
              <a:rPr lang="zh-CN" altLang="en-US" sz="2600" dirty="0"/>
              <a:t> 修复详情</a:t>
            </a:r>
            <a:endParaRPr lang="en-US" sz="26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727B0192-C1C2-4A08-46DA-3F1892AC1EFC}"/>
              </a:ext>
            </a:extLst>
          </p:cNvPr>
          <p:cNvSpPr/>
          <p:nvPr/>
        </p:nvSpPr>
        <p:spPr>
          <a:xfrm>
            <a:off x="548640" y="90276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 1 — AUC 误判 (PMID 41796341)</a:t>
            </a:r>
            <a:endParaRPr lang="en-US" sz="130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7E3E6750-2BC1-C3A2-A9B5-5546BC38068F}"/>
              </a:ext>
            </a:extLst>
          </p:cNvPr>
          <p:cNvSpPr/>
          <p:nvPr/>
        </p:nvSpPr>
        <p:spPr>
          <a:xfrm>
            <a:off x="5737072" y="894774"/>
            <a:ext cx="2208614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73859DFC-6D42-245D-0694-B2F427C91492}"/>
              </a:ext>
            </a:extLst>
          </p:cNvPr>
          <p:cNvSpPr/>
          <p:nvPr/>
        </p:nvSpPr>
        <p:spPr>
          <a:xfrm>
            <a:off x="5737072" y="894774"/>
            <a:ext cx="220861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已修复并验证</a:t>
            </a:r>
            <a:endParaRPr lang="en-US" sz="100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BB1FA5AD-3716-1467-03D4-CEC3DD014DB4}"/>
              </a:ext>
            </a:extLst>
          </p:cNvPr>
          <p:cNvSpPr/>
          <p:nvPr/>
        </p:nvSpPr>
        <p:spPr>
          <a:xfrm>
            <a:off x="685800" y="1231946"/>
            <a:ext cx="316389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修复前：LLM 输出 auc_validation = 0.91
</a:t>
            </a:r>
            <a:r>
              <a:rPr lang="en-US" sz="9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摘要实际仅有</a:t>
            </a:r>
            <a:r>
              <a:rPr lang="en-US" sz="9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sensitivity</a:t>
            </a:r>
            <a:r>
              <a:rPr lang="zh-CN" altLang="en-US" sz="9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9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r>
              <a:rPr lang="en-US" sz="9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AUC </a:t>
            </a:r>
            <a:r>
              <a:rPr lang="en-US" sz="9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900" dirty="0">
              <a:solidFill>
                <a:srgbClr val="1C2B3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</a:t>
            </a:r>
            <a:r>
              <a:rPr lang="en-US" sz="9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</a:t>
            </a:r>
            <a:r>
              <a:rPr lang="en-US" sz="9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specificity </a:t>
            </a:r>
            <a:r>
              <a:rPr lang="en-US" sz="9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误当成</a:t>
            </a:r>
            <a:r>
              <a:rPr lang="en-US" sz="9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AUC</a:t>
            </a:r>
            <a:endParaRPr lang="en-US" sz="10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4DBFDA16-412F-CB33-23C6-85536B0C26F8}"/>
              </a:ext>
            </a:extLst>
          </p:cNvPr>
          <p:cNvSpPr/>
          <p:nvPr/>
        </p:nvSpPr>
        <p:spPr>
          <a:xfrm>
            <a:off x="4907806" y="1214814"/>
            <a:ext cx="343688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代码级修复</a:t>
            </a:r>
            <a:r>
              <a:rPr 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摘要中若无</a:t>
            </a:r>
            <a:r>
              <a:rPr 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"AUC"/"ROC" 字样，程序强制将 AUC </a:t>
            </a: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置空</a:t>
            </a:r>
            <a:endParaRPr lang="en-US" sz="950" dirty="0"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不依赖模型自觉遵循</a:t>
            </a:r>
            <a:r>
              <a:rPr 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prompt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实盘复测</a:t>
            </a:r>
            <a:r>
              <a:rPr lang="zh-CN" alt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PMID </a:t>
            </a: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现返回</a:t>
            </a:r>
            <a:r>
              <a:rPr 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auc_validation</a:t>
            </a:r>
            <a:r>
              <a:rPr 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null</a:t>
            </a:r>
            <a:endParaRPr lang="en-US" sz="95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9C79BCDA-027C-3AB7-21F7-AFB346C15464}"/>
              </a:ext>
            </a:extLst>
          </p:cNvPr>
          <p:cNvSpPr/>
          <p:nvPr/>
        </p:nvSpPr>
        <p:spPr>
          <a:xfrm>
            <a:off x="548640" y="204576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 2 — 组织/cfDNA 指标混淆 (PMID 40860669)</a:t>
            </a:r>
            <a:endParaRPr lang="en-US" sz="1300" dirty="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716FFAF4-3470-73E0-8833-E18785A22135}"/>
              </a:ext>
            </a:extLst>
          </p:cNvPr>
          <p:cNvSpPr/>
          <p:nvPr/>
        </p:nvSpPr>
        <p:spPr>
          <a:xfrm>
            <a:off x="5737072" y="2037774"/>
            <a:ext cx="2208614" cy="237744"/>
          </a:xfrm>
          <a:prstGeom prst="roundRect">
            <a:avLst>
              <a:gd name="adj" fmla="val 23077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9F0AF373-2C60-7B1C-F03C-8DC4DFD2AEE4}"/>
              </a:ext>
            </a:extLst>
          </p:cNvPr>
          <p:cNvSpPr/>
          <p:nvPr/>
        </p:nvSpPr>
        <p:spPr>
          <a:xfrm>
            <a:off x="5737072" y="2037774"/>
            <a:ext cx="220861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仍未解决</a:t>
            </a:r>
            <a:endParaRPr lang="en-US" sz="10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6538509E-8A45-AD74-F96E-3BB59EEADA9F}"/>
              </a:ext>
            </a:extLst>
          </p:cNvPr>
          <p:cNvSpPr/>
          <p:nvPr/>
        </p:nvSpPr>
        <p:spPr>
          <a:xfrm>
            <a:off x="685800" y="2374946"/>
            <a:ext cx="316389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sample_type = plasma_cfdna，但 AUC = 0.922（实为组织 AUC，cfDNA 真实 AUC 仅 0.728）
</a:t>
            </a:r>
            <a:r>
              <a:rPr lang="en-US" sz="9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仅有 prompt </a:t>
            </a:r>
            <a:r>
              <a:rPr lang="en-US" sz="9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规则，同一PMID</a:t>
            </a:r>
            <a:r>
              <a:rPr lang="en-US" sz="9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仍返回相同错误结果</a:t>
            </a:r>
            <a:endParaRPr lang="en-US" sz="900" dirty="0">
              <a:solidFill>
                <a:srgbClr val="1C2B3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9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Bug 1 同一根因：模型不遵循纯 prompt 指令</a:t>
            </a:r>
            <a:endParaRPr lang="en-US" sz="10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929A291D-5EA6-C12C-2CFC-5E1E1902D306}"/>
              </a:ext>
            </a:extLst>
          </p:cNvPr>
          <p:cNvSpPr/>
          <p:nvPr/>
        </p:nvSpPr>
        <p:spPr>
          <a:xfrm>
            <a:off x="4907806" y="2357814"/>
            <a:ext cx="343688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r>
              <a:rPr lang="zh-CN" alt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altLang="zh-CN" sz="950" dirty="0"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程序对摘要拆句，若</a:t>
            </a:r>
            <a:r>
              <a:rPr 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tissue/cfDNA </a:t>
            </a: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关键词与</a:t>
            </a:r>
            <a:r>
              <a:rPr 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AUC </a:t>
            </a: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数值不在同一句，直接由代码置空该</a:t>
            </a:r>
            <a:r>
              <a:rPr 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AUC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不再要求模型判断</a:t>
            </a:r>
            <a:endParaRPr lang="en-US" sz="95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61D074A9-D822-E6AB-7862-B3D03DAD757E}"/>
              </a:ext>
            </a:extLst>
          </p:cNvPr>
          <p:cNvSpPr/>
          <p:nvPr/>
        </p:nvSpPr>
        <p:spPr>
          <a:xfrm>
            <a:off x="548640" y="347222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 3 — 参考数据集误标 (PMID 40860669)</a:t>
            </a:r>
            <a:endParaRPr lang="en-US" sz="1300" dirty="0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5FE9E277-A375-CE3D-AAF9-50B99AC2428D}"/>
              </a:ext>
            </a:extLst>
          </p:cNvPr>
          <p:cNvSpPr/>
          <p:nvPr/>
        </p:nvSpPr>
        <p:spPr>
          <a:xfrm>
            <a:off x="5737072" y="3464238"/>
            <a:ext cx="2208614" cy="237744"/>
          </a:xfrm>
          <a:prstGeom prst="roundRect">
            <a:avLst>
              <a:gd name="adj" fmla="val 23077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4E85B579-BF03-BF42-879C-7FC2285B2C17}"/>
              </a:ext>
            </a:extLst>
          </p:cNvPr>
          <p:cNvSpPr/>
          <p:nvPr/>
        </p:nvSpPr>
        <p:spPr>
          <a:xfrm>
            <a:off x="5737072" y="3464238"/>
            <a:ext cx="220861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仍未解决</a:t>
            </a:r>
            <a:endParaRPr lang="en-US" sz="10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7C1C6DE5-F4FE-4B6D-6214-169346293425}"/>
              </a:ext>
            </a:extLst>
          </p:cNvPr>
          <p:cNvSpPr/>
          <p:nvPr/>
        </p:nvSpPr>
        <p:spPr>
          <a:xfrm>
            <a:off x="685800" y="3801410"/>
            <a:ext cx="312731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dataset_ids 中仍包含 GSE50132（小鼠白细胞背景过滤参考集，非本研究主数据）
</a:t>
            </a:r>
            <a:r>
              <a:rPr lang="en-US" sz="9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仅有 prompt </a:t>
            </a:r>
            <a:r>
              <a:rPr lang="en-US" sz="9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规则，同一</a:t>
            </a:r>
            <a:r>
              <a:rPr lang="en-US" sz="900" dirty="0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PMID </a:t>
            </a:r>
            <a:r>
              <a:rPr lang="en-US" sz="900" dirty="0" err="1">
                <a:solidFill>
                  <a:srgbClr val="1C2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仍返回相同错误结果</a:t>
            </a:r>
            <a:endParaRPr lang="en-US" sz="900" dirty="0">
              <a:solidFill>
                <a:srgbClr val="1C2B3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5BB38EBE-F50C-C068-69A3-4E689747C55A}"/>
              </a:ext>
            </a:extLst>
          </p:cNvPr>
          <p:cNvSpPr/>
          <p:nvPr/>
        </p:nvSpPr>
        <p:spPr>
          <a:xfrm>
            <a:off x="4907806" y="3784278"/>
            <a:ext cx="343688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r>
              <a:rPr 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检测每个</a:t>
            </a:r>
            <a:r>
              <a:rPr lang="en-US" sz="9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accession 在摘要中出现的上下文，若附近出现 reference/background/normalization/control panel 等词，从 dataset_ids 中排除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/>
              <a:t>Pipeline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9FBCFB-3202-F7D4-0ECA-313929ADC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84860"/>
            <a:ext cx="7772400" cy="603888"/>
          </a:xfrm>
          <a:prstGeom prst="rect">
            <a:avLst/>
          </a:prstGeom>
        </p:spPr>
      </p:pic>
      <p:graphicFrame>
        <p:nvGraphicFramePr>
          <p:cNvPr id="34" name="Table 0">
            <a:extLst>
              <a:ext uri="{FF2B5EF4-FFF2-40B4-BE49-F238E27FC236}">
                <a16:creationId xmlns:a16="http://schemas.microsoft.com/office/drawing/2014/main" id="{250A4AB8-1D65-698B-FD5C-33153468F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725542"/>
              </p:ext>
            </p:extLst>
          </p:nvPr>
        </p:nvGraphicFramePr>
        <p:xfrm>
          <a:off x="457199" y="2467610"/>
          <a:ext cx="7570033" cy="1371600"/>
        </p:xfrm>
        <a:graphic>
          <a:graphicData uri="http://schemas.openxmlformats.org/drawingml/2006/table">
            <a:tbl>
              <a:tblPr/>
              <a:tblGrid>
                <a:gridCol w="114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2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数据集</a:t>
                      </a:r>
                      <a:endParaRPr lang="en-US" sz="11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判断</a:t>
                      </a:r>
                      <a:endParaRPr lang="en-US" sz="11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理由（真实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LLM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）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registry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endParaRPr lang="en-US" sz="11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GSE50132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1C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数据集为小鼠精子</a:t>
                      </a:r>
                      <a:r>
                        <a:rPr lang="en-US" sz="1000" dirty="0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RNA </a:t>
                      </a:r>
                      <a:r>
                        <a:rPr lang="en-US" sz="1000" dirty="0" err="1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研究，不含人类血浆</a:t>
                      </a:r>
                      <a:r>
                        <a:rPr lang="en-US" sz="1000" dirty="0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cfDNA </a:t>
                      </a:r>
                      <a:r>
                        <a:rPr lang="en-US" sz="1000" dirty="0" err="1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样本，不适用于乳腺癌早筛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needs_review</a:t>
                      </a:r>
                      <a:r>
                        <a:rPr lang="en-US" sz="1000" dirty="0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=False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GSE69914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 err="1">
                          <a:solidFill>
                            <a:srgbClr val="1C2B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manual_review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数据集含血浆</a:t>
                      </a:r>
                      <a:r>
                        <a:rPr lang="en-US" sz="1000" dirty="0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cfDNA，方向相关；但元数据不完整、样本级注释不清晰，需人工复核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needs_review</a:t>
                      </a:r>
                      <a:r>
                        <a:rPr lang="en-US" sz="1000" dirty="0">
                          <a:solidFill>
                            <a:srgbClr val="1C2B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=True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 20">
            <a:extLst>
              <a:ext uri="{FF2B5EF4-FFF2-40B4-BE49-F238E27FC236}">
                <a16:creationId xmlns:a16="http://schemas.microsoft.com/office/drawing/2014/main" id="{53BD605A-BD42-84AA-73C3-F82A2F5F11DE}"/>
              </a:ext>
            </a:extLst>
          </p:cNvPr>
          <p:cNvSpPr/>
          <p:nvPr/>
        </p:nvSpPr>
        <p:spPr>
          <a:xfrm>
            <a:off x="411480" y="2116645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4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r>
              <a:rPr lang="zh-CN" altLang="en-US" sz="1250" b="1" dirty="0">
                <a:solidFill>
                  <a:srgbClr val="134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50" b="1" dirty="0">
                <a:solidFill>
                  <a:srgbClr val="134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PMID 40860669，乳腺癌血浆cfDNA查询）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2B3A"/>
                </a:solidFill>
                <a:latin typeface="Arial" pitchFamily="34" charset="0"/>
                <a:cs typeface="Arial" pitchFamily="34" charset="-120"/>
              </a:rPr>
              <a:t>智谱咨询对照和下一步</a:t>
            </a:r>
            <a:endParaRPr lang="en-US" sz="2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413DB0-4293-7610-52DC-45A15E015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879061"/>
              </p:ext>
            </p:extLst>
          </p:nvPr>
        </p:nvGraphicFramePr>
        <p:xfrm>
          <a:off x="457200" y="960120"/>
          <a:ext cx="8293608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问题</a:t>
                      </a:r>
                      <a:endParaRPr sz="13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应对与下一步</a:t>
                      </a:r>
                    </a:p>
                  </a:txBody>
                  <a:tcPr anchor="ctr"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B3A"/>
                          </a:solidFill>
                          <a:latin typeface="Arial"/>
                        </a:rPr>
                        <a:t>无评估体系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已建</a:t>
                      </a:r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 scripts/gold_standard.py，2/10 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已核验；下一步补全剩余</a:t>
                      </a:r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 8 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条，跑完整评估</a:t>
                      </a:r>
                      <a:endParaRPr sz="1100" b="0" dirty="0">
                        <a:solidFill>
                          <a:srgbClr val="1C2B3A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结构化输出无强制校验</a:t>
                      </a:r>
                      <a:endParaRPr sz="1100" b="0" dirty="0">
                        <a:solidFill>
                          <a:srgbClr val="1C2B3A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Bug 1 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已验证代码级校验可行；</a:t>
                      </a:r>
                      <a:r>
                        <a:rPr lang="en-US"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尝试修复</a:t>
                      </a:r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 Bug 2/3 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B3A"/>
                          </a:solidFill>
                          <a:latin typeface="Arial"/>
                        </a:rPr>
                        <a:t>无可观测性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已加</a:t>
                      </a:r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 Stage1/Stage2 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通过率与完整度日志；发现</a:t>
                      </a:r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data_availability</a:t>
                      </a:r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完整度为</a:t>
                      </a:r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 0%，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下一步排查根因</a:t>
                      </a:r>
                      <a:endParaRPr sz="1100" b="0" dirty="0">
                        <a:solidFill>
                          <a:srgbClr val="1C2B3A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缺乏结构性输出</a:t>
                      </a:r>
                      <a:endParaRPr sz="1100" b="0" dirty="0">
                        <a:solidFill>
                          <a:srgbClr val="1C2B3A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已补</a:t>
                      </a:r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supplementary_links（其余</a:t>
                      </a:r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 2 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项已存在</a:t>
                      </a:r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）—— 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完成</a:t>
                      </a:r>
                      <a:endParaRPr sz="1100" b="0" dirty="0">
                        <a:solidFill>
                          <a:srgbClr val="1C2B3A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Pipeline 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整合方案未定</a:t>
                      </a:r>
                      <a:endParaRPr sz="1100" b="0" dirty="0">
                        <a:solidFill>
                          <a:srgbClr val="1C2B3A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prototype </a:t>
                      </a:r>
                      <a:r>
                        <a:rPr sz="1100" b="0" dirty="0" err="1">
                          <a:solidFill>
                            <a:srgbClr val="1C2B3A"/>
                          </a:solidFill>
                          <a:latin typeface="Arial"/>
                        </a:rPr>
                        <a:t>已验证全链路可行；下一步决定怎么接入</a:t>
                      </a:r>
                      <a:r>
                        <a:rPr sz="1100" b="0" dirty="0">
                          <a:solidFill>
                            <a:srgbClr val="1C2B3A"/>
                          </a:solidFill>
                          <a:latin typeface="Arial"/>
                        </a:rPr>
                        <a:t> orchestrator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B4503FC8-728A-B30C-052A-365408279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027994"/>
              </p:ext>
            </p:extLst>
          </p:nvPr>
        </p:nvGraphicFramePr>
        <p:xfrm>
          <a:off x="317937" y="773510"/>
          <a:ext cx="8173991" cy="413362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96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4741">
                  <a:extLst>
                    <a:ext uri="{9D8B030D-6E8A-4147-A177-3AD203B41FA5}">
                      <a16:colId xmlns:a16="http://schemas.microsoft.com/office/drawing/2014/main" val="249832547"/>
                    </a:ext>
                  </a:extLst>
                </a:gridCol>
              </a:tblGrid>
              <a:tr h="4131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effectLst/>
                        </a:rPr>
                        <a:t>任务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en-US" sz="1200" b="0" dirty="0" err="1">
                          <a:solidFill>
                            <a:schemeClr val="bg1"/>
                          </a:solidFill>
                          <a:effectLst/>
                        </a:rPr>
                        <a:t>问题</a:t>
                      </a: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effectLst/>
                        </a:rPr>
                        <a:t>解决方案</a:t>
                      </a: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6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组织/cfDNA 指标混淆、dataset_ids 参考集误入（Bug 2 &amp; 3 未修复）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 err="1">
                          <a:effectLst/>
                        </a:rPr>
                        <a:t>参照</a:t>
                      </a:r>
                      <a:r>
                        <a:rPr lang="en-US" dirty="0">
                          <a:effectLst/>
                        </a:rPr>
                        <a:t> Bug 1 </a:t>
                      </a:r>
                      <a:r>
                        <a:rPr lang="en-US" dirty="0" err="1">
                          <a:effectLst/>
                        </a:rPr>
                        <a:t>思路做代码级输出后校验：AUC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与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sample_type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须在同一句；accession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附近若出现</a:t>
                      </a:r>
                      <a:r>
                        <a:rPr lang="en-US" dirty="0">
                          <a:effectLst/>
                        </a:rPr>
                        <a:t> reference/background/normalization </a:t>
                      </a:r>
                      <a:r>
                        <a:rPr lang="en-US" dirty="0" err="1">
                          <a:effectLst/>
                        </a:rPr>
                        <a:t>等词则从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dataset_ids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剔除</a:t>
                      </a:r>
                      <a:endParaRPr lang="en-US" dirty="0"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43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 err="1">
                          <a:effectLst/>
                        </a:rPr>
                        <a:t>data_availability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字段完整度为</a:t>
                      </a:r>
                      <a:r>
                        <a:rPr lang="en-US" dirty="0">
                          <a:effectLst/>
                        </a:rPr>
                        <a:t> 0%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 err="1">
                          <a:effectLst/>
                        </a:rPr>
                        <a:t>排查根因：prompt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遗漏</a:t>
                      </a:r>
                      <a:r>
                        <a:rPr lang="en-US" dirty="0">
                          <a:effectLst/>
                        </a:rPr>
                        <a:t> vs </a:t>
                      </a:r>
                      <a:r>
                        <a:rPr lang="en-US" dirty="0" err="1">
                          <a:effectLst/>
                        </a:rPr>
                        <a:t>模型未遵循；对应补</a:t>
                      </a:r>
                      <a:r>
                        <a:rPr lang="en-US" dirty="0">
                          <a:effectLst/>
                        </a:rPr>
                        <a:t> prompt </a:t>
                      </a:r>
                      <a:r>
                        <a:rPr lang="en-US" dirty="0" err="1">
                          <a:effectLst/>
                        </a:rPr>
                        <a:t>或加输出后校验</a:t>
                      </a:r>
                      <a:endParaRPr lang="en-US" dirty="0"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6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br>
                        <a:rPr lang="en-US">
                          <a:effectLst/>
                        </a:rPr>
                      </a:br>
                      <a:r>
                        <a:rPr lang="en-US">
                          <a:effectLst/>
                        </a:rPr>
                        <a:t>智谱指出 LLM 输出靠 regex 兜底，静默失败掩盖错误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 err="1">
                          <a:effectLst/>
                        </a:rPr>
                        <a:t>评估为结构化输出加入强制</a:t>
                      </a:r>
                      <a:r>
                        <a:rPr lang="en-US" dirty="0">
                          <a:effectLst/>
                        </a:rPr>
                        <a:t> schema </a:t>
                      </a:r>
                      <a:r>
                        <a:rPr lang="en-US" dirty="0" err="1">
                          <a:effectLst/>
                        </a:rPr>
                        <a:t>校验（function</a:t>
                      </a:r>
                      <a:r>
                        <a:rPr lang="en-US" dirty="0">
                          <a:effectLst/>
                        </a:rPr>
                        <a:t> calling / structured output），</a:t>
                      </a:r>
                      <a:r>
                        <a:rPr lang="en-US" dirty="0" err="1">
                          <a:effectLst/>
                        </a:rPr>
                        <a:t>复用</a:t>
                      </a:r>
                      <a:r>
                        <a:rPr lang="en-US" dirty="0">
                          <a:effectLst/>
                        </a:rPr>
                        <a:t> Bug 1 </a:t>
                      </a:r>
                      <a:r>
                        <a:rPr lang="en-US" dirty="0" err="1">
                          <a:effectLst/>
                        </a:rPr>
                        <a:t>的思路</a:t>
                      </a:r>
                      <a:endParaRPr lang="en-US" dirty="0"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1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Pipeline 整合方案未定，端到端集成测试尚未搭建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 err="1">
                          <a:effectLst/>
                        </a:rPr>
                        <a:t>待方案确认后（详见下一张</a:t>
                      </a:r>
                      <a:r>
                        <a:rPr lang="en-US" dirty="0">
                          <a:effectLst/>
                        </a:rPr>
                        <a:t> slide </a:t>
                      </a:r>
                      <a:r>
                        <a:rPr lang="en-US" dirty="0" err="1">
                          <a:effectLst/>
                        </a:rPr>
                        <a:t>三选一</a:t>
                      </a:r>
                      <a:r>
                        <a:rPr lang="en-US" dirty="0">
                          <a:effectLst/>
                        </a:rPr>
                        <a:t>），</a:t>
                      </a:r>
                      <a:r>
                        <a:rPr lang="en-US" dirty="0" err="1">
                          <a:effectLst/>
                        </a:rPr>
                        <a:t>补充端到端集成测试：query</a:t>
                      </a:r>
                      <a:r>
                        <a:rPr lang="en-US" dirty="0">
                          <a:effectLst/>
                        </a:rPr>
                        <a:t> → parser → NCBI → Stage1 → Stage2 → GEO </a:t>
                      </a:r>
                      <a:r>
                        <a:rPr lang="en-US" dirty="0" err="1">
                          <a:effectLst/>
                        </a:rPr>
                        <a:t>评估</a:t>
                      </a:r>
                      <a:r>
                        <a:rPr lang="en-US" dirty="0">
                          <a:effectLst/>
                        </a:rPr>
                        <a:t> → registry</a:t>
                      </a:r>
                    </a:p>
                  </a:txBody>
                  <a:tcPr marL="57150" marR="57150" marT="57150" marB="5715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1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金标准评估仅 2/10 已核验，覆盖不足</a:t>
                      </a: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 err="1">
                          <a:effectLst/>
                        </a:rPr>
                        <a:t>补全剩余</a:t>
                      </a:r>
                      <a:r>
                        <a:rPr lang="en-US" dirty="0">
                          <a:effectLst/>
                        </a:rPr>
                        <a:t> 8 </a:t>
                      </a:r>
                      <a:r>
                        <a:rPr lang="en-US" dirty="0" err="1">
                          <a:effectLst/>
                        </a:rPr>
                        <a:t>条人工核验数据，跑一次完整</a:t>
                      </a:r>
                      <a:r>
                        <a:rPr lang="en-US" dirty="0">
                          <a:effectLst/>
                        </a:rPr>
                        <a:t> scripts/</a:t>
                      </a:r>
                      <a:r>
                        <a:rPr lang="en-US" dirty="0" err="1">
                          <a:effectLst/>
                        </a:rPr>
                        <a:t>gold_standard.py，输出各字段精确率</a:t>
                      </a:r>
                      <a:r>
                        <a:rPr lang="en-US" dirty="0">
                          <a:effectLst/>
                        </a:rPr>
                        <a:t>/</a:t>
                      </a:r>
                      <a:r>
                        <a:rPr lang="en-US" dirty="0" err="1">
                          <a:effectLst/>
                        </a:rPr>
                        <a:t>召回率</a:t>
                      </a:r>
                      <a:endParaRPr lang="en-US" dirty="0">
                        <a:effectLst/>
                      </a:endParaRP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33E4BCE1-2F6C-9C36-7A19-B634B4DF6FF9}"/>
              </a:ext>
            </a:extLst>
          </p:cNvPr>
          <p:cNvSpPr/>
          <p:nvPr/>
        </p:nvSpPr>
        <p:spPr>
          <a:xfrm>
            <a:off x="317937" y="144827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2B3A"/>
                </a:solidFill>
                <a:latin typeface="Arial" pitchFamily="34" charset="0"/>
                <a:cs typeface="Arial" pitchFamily="34" charset="-120"/>
              </a:rPr>
              <a:t>问题和下一步计划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02590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1643</TotalTime>
  <Words>467</Words>
  <Application>Microsoft Macintosh PowerPoint</Application>
  <PresentationFormat>On-screen Show (16:9)</PresentationFormat>
  <Paragraphs>79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YaHei</vt:lpstr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MethyAgent 进展汇报</dc:title>
  <dc:subject>PptxGenJS Presentation</dc:subject>
  <dc:creator>PptxGenJS</dc:creator>
  <cp:lastModifiedBy>Emma Wang</cp:lastModifiedBy>
  <cp:revision>12</cp:revision>
  <dcterms:created xsi:type="dcterms:W3CDTF">2026-06-24T19:21:47Z</dcterms:created>
  <dcterms:modified xsi:type="dcterms:W3CDTF">2026-07-09T00:07:57Z</dcterms:modified>
</cp:coreProperties>
</file>